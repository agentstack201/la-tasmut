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0058400" cy="7772400"/>
  <p:notesSz cx="6858000" cy="9144000"/>
  <p:embeddedFontLst>
    <p:embeddedFont>
      <p:font typeface="IBM Plex Sans Arabic Bold" charset="1" panose="020B0803050203000203"/>
      <p:regular r:id="rId8"/>
    </p:embeddedFont>
    <p:embeddedFont>
      <p:font typeface="IBM Plex Sans Arabic Light" charset="1" panose="020B0403050203000203"/>
      <p:regular r:id="rId9"/>
    </p:embeddedFont>
    <p:embeddedFont>
      <p:font typeface="IBM Plex Sans Arabic" charset="1" panose="020B05030502030002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919" y="1409114"/>
            <a:ext cx="2706638" cy="456630"/>
            <a:chOff x="0" y="0"/>
            <a:chExt cx="943490" cy="159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3490" cy="159174"/>
            </a:xfrm>
            <a:custGeom>
              <a:avLst/>
              <a:gdLst/>
              <a:ahLst/>
              <a:cxnLst/>
              <a:rect r="r" b="b" t="t" l="l"/>
              <a:pathLst>
                <a:path h="159174" w="943490">
                  <a:moveTo>
                    <a:pt x="0" y="0"/>
                  </a:moveTo>
                  <a:lnTo>
                    <a:pt x="943490" y="0"/>
                  </a:lnTo>
                  <a:lnTo>
                    <a:pt x="943490" y="159174"/>
                  </a:lnTo>
                  <a:lnTo>
                    <a:pt x="0" y="159174"/>
                  </a:lnTo>
                  <a:close/>
                </a:path>
              </a:pathLst>
            </a:custGeom>
            <a:solidFill>
              <a:srgbClr val="DBC0B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43490" cy="187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0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35518" y="-3225397"/>
            <a:ext cx="7711420" cy="6128199"/>
          </a:xfrm>
          <a:custGeom>
            <a:avLst/>
            <a:gdLst/>
            <a:ahLst/>
            <a:cxnLst/>
            <a:rect r="r" b="b" t="t" l="l"/>
            <a:pathLst>
              <a:path h="6128199" w="7711420">
                <a:moveTo>
                  <a:pt x="0" y="0"/>
                </a:moveTo>
                <a:lnTo>
                  <a:pt x="7711420" y="0"/>
                </a:lnTo>
                <a:lnTo>
                  <a:pt x="7711420" y="6128199"/>
                </a:lnTo>
                <a:lnTo>
                  <a:pt x="0" y="6128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325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56992" y="3149790"/>
            <a:ext cx="2917104" cy="313813"/>
            <a:chOff x="0" y="0"/>
            <a:chExt cx="1016855" cy="1093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855" cy="109390"/>
            </a:xfrm>
            <a:custGeom>
              <a:avLst/>
              <a:gdLst/>
              <a:ahLst/>
              <a:cxnLst/>
              <a:rect r="r" b="b" t="t" l="l"/>
              <a:pathLst>
                <a:path h="109390" w="1016855">
                  <a:moveTo>
                    <a:pt x="0" y="0"/>
                  </a:moveTo>
                  <a:lnTo>
                    <a:pt x="1016855" y="0"/>
                  </a:lnTo>
                  <a:lnTo>
                    <a:pt x="1016855" y="109390"/>
                  </a:lnTo>
                  <a:lnTo>
                    <a:pt x="0" y="109390"/>
                  </a:lnTo>
                  <a:close/>
                </a:path>
              </a:pathLst>
            </a:custGeom>
            <a:solidFill>
              <a:srgbClr val="DBC0B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6855" cy="13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0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39472" y="5624690"/>
            <a:ext cx="1803443" cy="2661908"/>
          </a:xfrm>
          <a:custGeom>
            <a:avLst/>
            <a:gdLst/>
            <a:ahLst/>
            <a:cxnLst/>
            <a:rect r="r" b="b" t="t" l="l"/>
            <a:pathLst>
              <a:path h="2661908" w="1803443">
                <a:moveTo>
                  <a:pt x="0" y="0"/>
                </a:moveTo>
                <a:lnTo>
                  <a:pt x="1803443" y="0"/>
                </a:lnTo>
                <a:lnTo>
                  <a:pt x="1803443" y="2661908"/>
                </a:lnTo>
                <a:lnTo>
                  <a:pt x="0" y="2661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58674" y="4603175"/>
            <a:ext cx="422704" cy="620421"/>
          </a:xfrm>
          <a:custGeom>
            <a:avLst/>
            <a:gdLst/>
            <a:ahLst/>
            <a:cxnLst/>
            <a:rect r="r" b="b" t="t" l="l"/>
            <a:pathLst>
              <a:path h="620421" w="422704">
                <a:moveTo>
                  <a:pt x="0" y="0"/>
                </a:moveTo>
                <a:lnTo>
                  <a:pt x="422704" y="0"/>
                </a:lnTo>
                <a:lnTo>
                  <a:pt x="422704" y="620420"/>
                </a:lnTo>
                <a:lnTo>
                  <a:pt x="0" y="620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962002" y="5748749"/>
            <a:ext cx="360391" cy="444482"/>
          </a:xfrm>
          <a:custGeom>
            <a:avLst/>
            <a:gdLst/>
            <a:ahLst/>
            <a:cxnLst/>
            <a:rect r="r" b="b" t="t" l="l"/>
            <a:pathLst>
              <a:path h="444482" w="360391">
                <a:moveTo>
                  <a:pt x="0" y="0"/>
                </a:moveTo>
                <a:lnTo>
                  <a:pt x="360391" y="0"/>
                </a:lnTo>
                <a:lnTo>
                  <a:pt x="360391" y="444482"/>
                </a:lnTo>
                <a:lnTo>
                  <a:pt x="0" y="444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46131" y="6801425"/>
            <a:ext cx="386330" cy="459779"/>
          </a:xfrm>
          <a:custGeom>
            <a:avLst/>
            <a:gdLst/>
            <a:ahLst/>
            <a:cxnLst/>
            <a:rect r="r" b="b" t="t" l="l"/>
            <a:pathLst>
              <a:path h="459779" w="386330">
                <a:moveTo>
                  <a:pt x="0" y="0"/>
                </a:moveTo>
                <a:lnTo>
                  <a:pt x="386330" y="0"/>
                </a:lnTo>
                <a:lnTo>
                  <a:pt x="386330" y="459779"/>
                </a:lnTo>
                <a:lnTo>
                  <a:pt x="0" y="459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17125" y="4777106"/>
            <a:ext cx="2156971" cy="84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318"/>
              </a:lnSpc>
            </a:pPr>
            <a:r>
              <a:rPr lang="ar-EG" b="true" sz="1431" spc="200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السجن سنة</a:t>
            </a:r>
          </a:p>
          <a:p>
            <a:pPr algn="r" rtl="true" marL="0" indent="0" lvl="0">
              <a:lnSpc>
                <a:spcPts val="2318"/>
              </a:lnSpc>
            </a:pPr>
            <a:r>
              <a:rPr lang="ar-EG" b="true" sz="1431" spc="200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أو غرامة مليون</a:t>
            </a:r>
          </a:p>
          <a:p>
            <a:pPr algn="r" rtl="true" marL="0" indent="0" lvl="0">
              <a:lnSpc>
                <a:spcPts val="2318"/>
              </a:lnSpc>
            </a:pPr>
            <a:r>
              <a:rPr lang="ar-EG" b="true" sz="1431" spc="200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للتشهير الإلكتروني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648078" y="4993629"/>
            <a:ext cx="1955582" cy="3081898"/>
          </a:xfrm>
          <a:custGeom>
            <a:avLst/>
            <a:gdLst/>
            <a:ahLst/>
            <a:cxnLst/>
            <a:rect r="r" b="b" t="t" l="l"/>
            <a:pathLst>
              <a:path h="3081898" w="1955582">
                <a:moveTo>
                  <a:pt x="0" y="0"/>
                </a:moveTo>
                <a:lnTo>
                  <a:pt x="1955582" y="0"/>
                </a:lnTo>
                <a:lnTo>
                  <a:pt x="1955582" y="3081898"/>
                </a:lnTo>
                <a:lnTo>
                  <a:pt x="0" y="30818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335518" y="2902802"/>
            <a:ext cx="3370082" cy="306581"/>
            <a:chOff x="0" y="0"/>
            <a:chExt cx="1174756" cy="1068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4756" cy="106869"/>
            </a:xfrm>
            <a:custGeom>
              <a:avLst/>
              <a:gdLst/>
              <a:ahLst/>
              <a:cxnLst/>
              <a:rect r="r" b="b" t="t" l="l"/>
              <a:pathLst>
                <a:path h="106869" w="1174756">
                  <a:moveTo>
                    <a:pt x="0" y="0"/>
                  </a:moveTo>
                  <a:lnTo>
                    <a:pt x="1174756" y="0"/>
                  </a:lnTo>
                  <a:lnTo>
                    <a:pt x="1174756" y="106869"/>
                  </a:lnTo>
                  <a:lnTo>
                    <a:pt x="0" y="106869"/>
                  </a:lnTo>
                  <a:close/>
                </a:path>
              </a:pathLst>
            </a:custGeom>
            <a:solidFill>
              <a:srgbClr val="DBC0B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74756" cy="13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0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51956" y="-342272"/>
            <a:ext cx="1901165" cy="1355929"/>
          </a:xfrm>
          <a:custGeom>
            <a:avLst/>
            <a:gdLst/>
            <a:ahLst/>
            <a:cxnLst/>
            <a:rect r="r" b="b" t="t" l="l"/>
            <a:pathLst>
              <a:path h="1355929" w="1901165">
                <a:moveTo>
                  <a:pt x="0" y="0"/>
                </a:moveTo>
                <a:lnTo>
                  <a:pt x="1901165" y="0"/>
                </a:lnTo>
                <a:lnTo>
                  <a:pt x="1901165" y="1355929"/>
                </a:lnTo>
                <a:lnTo>
                  <a:pt x="0" y="13559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4021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85207" y="4455522"/>
            <a:ext cx="284566" cy="295305"/>
          </a:xfrm>
          <a:custGeom>
            <a:avLst/>
            <a:gdLst/>
            <a:ahLst/>
            <a:cxnLst/>
            <a:rect r="r" b="b" t="t" l="l"/>
            <a:pathLst>
              <a:path h="295305" w="284566">
                <a:moveTo>
                  <a:pt x="0" y="0"/>
                </a:moveTo>
                <a:lnTo>
                  <a:pt x="284567" y="0"/>
                </a:lnTo>
                <a:lnTo>
                  <a:pt x="284567" y="295305"/>
                </a:lnTo>
                <a:lnTo>
                  <a:pt x="0" y="295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985207" y="4746810"/>
            <a:ext cx="284566" cy="295305"/>
          </a:xfrm>
          <a:custGeom>
            <a:avLst/>
            <a:gdLst/>
            <a:ahLst/>
            <a:cxnLst/>
            <a:rect r="r" b="b" t="t" l="l"/>
            <a:pathLst>
              <a:path h="295305" w="284566">
                <a:moveTo>
                  <a:pt x="0" y="0"/>
                </a:moveTo>
                <a:lnTo>
                  <a:pt x="284567" y="0"/>
                </a:lnTo>
                <a:lnTo>
                  <a:pt x="284567" y="295305"/>
                </a:lnTo>
                <a:lnTo>
                  <a:pt x="0" y="295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985207" y="5038097"/>
            <a:ext cx="284566" cy="295305"/>
          </a:xfrm>
          <a:custGeom>
            <a:avLst/>
            <a:gdLst/>
            <a:ahLst/>
            <a:cxnLst/>
            <a:rect r="r" b="b" t="t" l="l"/>
            <a:pathLst>
              <a:path h="295305" w="284566">
                <a:moveTo>
                  <a:pt x="0" y="0"/>
                </a:moveTo>
                <a:lnTo>
                  <a:pt x="284567" y="0"/>
                </a:lnTo>
                <a:lnTo>
                  <a:pt x="284567" y="295305"/>
                </a:lnTo>
                <a:lnTo>
                  <a:pt x="0" y="295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985207" y="5329385"/>
            <a:ext cx="284566" cy="295305"/>
          </a:xfrm>
          <a:custGeom>
            <a:avLst/>
            <a:gdLst/>
            <a:ahLst/>
            <a:cxnLst/>
            <a:rect r="r" b="b" t="t" l="l"/>
            <a:pathLst>
              <a:path h="295305" w="284566">
                <a:moveTo>
                  <a:pt x="0" y="0"/>
                </a:moveTo>
                <a:lnTo>
                  <a:pt x="284567" y="0"/>
                </a:lnTo>
                <a:lnTo>
                  <a:pt x="284567" y="295305"/>
                </a:lnTo>
                <a:lnTo>
                  <a:pt x="0" y="295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93740" y="-63319"/>
            <a:ext cx="1058216" cy="1105883"/>
          </a:xfrm>
          <a:custGeom>
            <a:avLst/>
            <a:gdLst/>
            <a:ahLst/>
            <a:cxnLst/>
            <a:rect r="r" b="b" t="t" l="l"/>
            <a:pathLst>
              <a:path h="1105883" w="1058216">
                <a:moveTo>
                  <a:pt x="0" y="0"/>
                </a:moveTo>
                <a:lnTo>
                  <a:pt x="1058216" y="0"/>
                </a:lnTo>
                <a:lnTo>
                  <a:pt x="1058216" y="1105883"/>
                </a:lnTo>
                <a:lnTo>
                  <a:pt x="0" y="11058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615884" y="394373"/>
            <a:ext cx="5665276" cy="83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917"/>
              </a:lnSpc>
              <a:spcBef>
                <a:spcPct val="0"/>
              </a:spcBef>
            </a:pPr>
            <a:r>
              <a:rPr lang="ar-EG" b="true" sz="4941" spc="49">
                <a:solidFill>
                  <a:srgbClr val="FFFFF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كيف تحمي نفسك؟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17730" y="4644392"/>
            <a:ext cx="1761339" cy="48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308"/>
              </a:lnSpc>
              <a:spcBef>
                <a:spcPct val="0"/>
              </a:spcBef>
            </a:pPr>
            <a:r>
              <a:rPr lang="ar-EG" b="true" sz="934" spc="20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لا تشارك بياناتك الشخصية أو كلمات المرور مع أي شخص، واحرص على خصوصية حساباتك.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43719" y="3774270"/>
            <a:ext cx="2469877" cy="6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690"/>
              </a:lnSpc>
              <a:spcBef>
                <a:spcPct val="0"/>
              </a:spcBef>
            </a:pPr>
            <a:r>
              <a:rPr lang="ar-EG" b="true" sz="1207" spc="26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للإبلاغ عن الابتزاز الإلكتروني تواصل فوراً عبر تطبيق «كلنا أمن» أو اتصل على الرقم </a:t>
            </a:r>
            <a:r>
              <a:rPr lang="en-US" b="true" sz="1207" spc="26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911</a:t>
            </a:r>
            <a:r>
              <a:rPr lang="ar-EG" b="true" sz="1207" spc="26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دون تأخير.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14440" y="5697744"/>
            <a:ext cx="2064629" cy="48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308"/>
              </a:lnSpc>
              <a:spcBef>
                <a:spcPct val="0"/>
              </a:spcBef>
            </a:pPr>
            <a:r>
              <a:rPr lang="ar-EG" b="true" sz="934" spc="20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احفظ الأدلة والمحادثات وبلّغ الجهات المختصة فور تعرضك للابتزاز ولا تستجب للمبتز.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3019" y="1112413"/>
            <a:ext cx="2780438" cy="51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4201"/>
              </a:lnSpc>
              <a:spcBef>
                <a:spcPct val="0"/>
              </a:spcBef>
            </a:pPr>
            <a:r>
              <a:rPr lang="ar-EG" b="true" sz="3001" spc="30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القوانين والعقوبات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86810" y="2315750"/>
            <a:ext cx="2926785" cy="102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810"/>
              </a:lnSpc>
            </a:pPr>
            <a:r>
              <a:rPr lang="ar-EG" b="true" sz="1527" spc="33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نظام مكافحة الجرائم المعلوماتية في المملكة العربية السعودية يُجرّم الابتزاز الإلكتروني بعقوبات صارمة.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6162" y="2417181"/>
            <a:ext cx="2706638" cy="205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1792"/>
              </a:lnSpc>
              <a:spcBef>
                <a:spcPct val="0"/>
              </a:spcBef>
            </a:pPr>
            <a:r>
              <a:rPr lang="ar-EG" b="true" sz="1280" spc="179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تعريف الابتزاز الإلكتروني وآثاره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39422" y="2734109"/>
            <a:ext cx="2466690" cy="13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870"/>
              </a:lnSpc>
              <a:spcBef>
                <a:spcPct val="0"/>
              </a:spcBef>
            </a:pPr>
            <a:r>
              <a:rPr lang="ar-EG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الابتزاز الإلكتروني هو تهديد الضحية باستخدام معلومات أو صور أو مقاطع خاصة لانتزاع مال أو تنفيذ مطالب معينة عبر الفضاء الإلكتروني.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84131" y="3695831"/>
            <a:ext cx="2297247" cy="60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253"/>
              </a:lnSpc>
              <a:spcBef>
                <a:spcPct val="0"/>
              </a:spcBef>
            </a:pPr>
            <a:r>
              <a:rPr lang="ar-EG" b="true" sz="895" spc="197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آثار الابتزاز الإلكتروني: اضطرابات نفسية حادة، عزلة اجتماعية، تدمير السمعة، خسائر مالية، وقد يصل الأمر إلى الأزمات الأسرية والقانونية إذا لم يُعالَج فوراً.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52800" y="6753844"/>
            <a:ext cx="2425948" cy="52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409"/>
              </a:lnSpc>
              <a:spcBef>
                <a:spcPct val="0"/>
              </a:spcBef>
            </a:pPr>
            <a:r>
              <a:rPr lang="ar-EG" b="true" sz="1006" spc="221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الكلية التطبيقية - جامعة بيشة</a:t>
            </a:r>
          </a:p>
          <a:p>
            <a:pPr algn="r" rtl="true" marL="0" indent="0" lvl="0">
              <a:lnSpc>
                <a:spcPts val="1409"/>
              </a:lnSpc>
              <a:spcBef>
                <a:spcPct val="0"/>
              </a:spcBef>
            </a:pPr>
            <a:r>
              <a:rPr lang="ar-EG" b="true" sz="1006" spc="221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الفئة المستهدفة: طلاب الجامعة والمجتمع المحلي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886" y="4425267"/>
            <a:ext cx="2875226" cy="10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07"/>
              </a:lnSpc>
            </a:pPr>
            <a:r>
              <a:rPr lang="ar-EG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اسم الطالبة: ريماس سالم الشهراني</a:t>
            </a:r>
          </a:p>
          <a:p>
            <a:pPr algn="r" rtl="true">
              <a:lnSpc>
                <a:spcPts val="2207"/>
              </a:lnSpc>
            </a:pPr>
            <a:r>
              <a:rPr lang="ar-EG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الرقم الجامعي :</a:t>
            </a:r>
            <a:r>
              <a:rPr lang="en-US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448801125</a:t>
            </a:r>
          </a:p>
          <a:p>
            <a:pPr algn="r" rtl="true">
              <a:lnSpc>
                <a:spcPts val="2207"/>
              </a:lnSpc>
            </a:pPr>
            <a:r>
              <a:rPr lang="ar-EG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الدكتورة: </a:t>
            </a:r>
            <a:r>
              <a:rPr lang="ar-EG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هديل فهد الطويرقي</a:t>
            </a:r>
          </a:p>
          <a:p>
            <a:pPr algn="r" rtl="true" marL="0" indent="0" lvl="0">
              <a:lnSpc>
                <a:spcPts val="2207"/>
              </a:lnSpc>
              <a:spcBef>
                <a:spcPct val="0"/>
              </a:spcBef>
            </a:pPr>
            <a:r>
              <a:rPr lang="ar-EG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الشعبة:</a:t>
            </a:r>
            <a:r>
              <a:rPr lang="en-US" b="true" sz="1298" spc="28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501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20277" y="2718545"/>
            <a:ext cx="5005592" cy="42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537"/>
              </a:lnSpc>
              <a:spcBef>
                <a:spcPct val="0"/>
              </a:spcBef>
            </a:pPr>
            <a:r>
              <a:rPr lang="ar-EG" b="true" sz="2526" spc="353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طرق الوقاية والإبلاغ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52800" y="0"/>
            <a:ext cx="3352800" cy="7772400"/>
            <a:chOff x="0" y="0"/>
            <a:chExt cx="116873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873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68732">
                  <a:moveTo>
                    <a:pt x="0" y="0"/>
                  </a:moveTo>
                  <a:lnTo>
                    <a:pt x="1168732" y="0"/>
                  </a:lnTo>
                  <a:lnTo>
                    <a:pt x="116873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12E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68732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2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25128" y="-117034"/>
            <a:ext cx="2608143" cy="5591931"/>
            <a:chOff x="0" y="0"/>
            <a:chExt cx="909157" cy="19492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157" cy="1949257"/>
            </a:xfrm>
            <a:custGeom>
              <a:avLst/>
              <a:gdLst/>
              <a:ahLst/>
              <a:cxnLst/>
              <a:rect r="r" b="b" t="t" l="l"/>
              <a:pathLst>
                <a:path h="1949257" w="909157">
                  <a:moveTo>
                    <a:pt x="59367" y="0"/>
                  </a:moveTo>
                  <a:lnTo>
                    <a:pt x="849789" y="0"/>
                  </a:lnTo>
                  <a:cubicBezTo>
                    <a:pt x="882577" y="0"/>
                    <a:pt x="909157" y="26580"/>
                    <a:pt x="909157" y="59367"/>
                  </a:cubicBezTo>
                  <a:lnTo>
                    <a:pt x="909157" y="1889890"/>
                  </a:lnTo>
                  <a:cubicBezTo>
                    <a:pt x="909157" y="1905635"/>
                    <a:pt x="902902" y="1920735"/>
                    <a:pt x="891768" y="1931869"/>
                  </a:cubicBezTo>
                  <a:cubicBezTo>
                    <a:pt x="880635" y="1943002"/>
                    <a:pt x="865535" y="1949257"/>
                    <a:pt x="849789" y="1949257"/>
                  </a:cubicBezTo>
                  <a:lnTo>
                    <a:pt x="59367" y="1949257"/>
                  </a:lnTo>
                  <a:cubicBezTo>
                    <a:pt x="43622" y="1949257"/>
                    <a:pt x="28522" y="1943002"/>
                    <a:pt x="17388" y="1931869"/>
                  </a:cubicBezTo>
                  <a:cubicBezTo>
                    <a:pt x="6255" y="1920735"/>
                    <a:pt x="0" y="1905635"/>
                    <a:pt x="0" y="1889890"/>
                  </a:cubicBezTo>
                  <a:lnTo>
                    <a:pt x="0" y="59367"/>
                  </a:lnTo>
                  <a:cubicBezTo>
                    <a:pt x="0" y="43622"/>
                    <a:pt x="6255" y="28522"/>
                    <a:pt x="17388" y="17388"/>
                  </a:cubicBezTo>
                  <a:cubicBezTo>
                    <a:pt x="28522" y="6255"/>
                    <a:pt x="43622" y="0"/>
                    <a:pt x="59367" y="0"/>
                  </a:cubicBezTo>
                  <a:close/>
                </a:path>
              </a:pathLst>
            </a:custGeom>
            <a:solidFill>
              <a:srgbClr val="A17D6E">
                <a:alpha val="4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09157" cy="1949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0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0276" y="1493559"/>
            <a:ext cx="2905925" cy="456630"/>
            <a:chOff x="0" y="0"/>
            <a:chExt cx="1012958" cy="159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2959" cy="159174"/>
            </a:xfrm>
            <a:custGeom>
              <a:avLst/>
              <a:gdLst/>
              <a:ahLst/>
              <a:cxnLst/>
              <a:rect r="r" b="b" t="t" l="l"/>
              <a:pathLst>
                <a:path h="159174" w="1012959">
                  <a:moveTo>
                    <a:pt x="0" y="0"/>
                  </a:moveTo>
                  <a:lnTo>
                    <a:pt x="1012959" y="0"/>
                  </a:lnTo>
                  <a:lnTo>
                    <a:pt x="1012959" y="159174"/>
                  </a:lnTo>
                  <a:lnTo>
                    <a:pt x="0" y="159174"/>
                  </a:lnTo>
                  <a:close/>
                </a:path>
              </a:pathLst>
            </a:custGeom>
            <a:solidFill>
              <a:srgbClr val="DBC0B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12958" cy="187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0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10188" y="1721874"/>
            <a:ext cx="2103189" cy="456630"/>
            <a:chOff x="0" y="0"/>
            <a:chExt cx="733138" cy="1591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138" cy="159174"/>
            </a:xfrm>
            <a:custGeom>
              <a:avLst/>
              <a:gdLst/>
              <a:ahLst/>
              <a:cxnLst/>
              <a:rect r="r" b="b" t="t" l="l"/>
              <a:pathLst>
                <a:path h="159174" w="733138">
                  <a:moveTo>
                    <a:pt x="0" y="0"/>
                  </a:moveTo>
                  <a:lnTo>
                    <a:pt x="733138" y="0"/>
                  </a:lnTo>
                  <a:lnTo>
                    <a:pt x="733138" y="159174"/>
                  </a:lnTo>
                  <a:lnTo>
                    <a:pt x="0" y="159174"/>
                  </a:lnTo>
                  <a:close/>
                </a:path>
              </a:pathLst>
            </a:custGeom>
            <a:solidFill>
              <a:srgbClr val="A17D6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33138" cy="187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82401" y="821680"/>
            <a:ext cx="2905925" cy="456630"/>
            <a:chOff x="0" y="0"/>
            <a:chExt cx="1012958" cy="1591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2959" cy="159174"/>
            </a:xfrm>
            <a:custGeom>
              <a:avLst/>
              <a:gdLst/>
              <a:ahLst/>
              <a:cxnLst/>
              <a:rect r="r" b="b" t="t" l="l"/>
              <a:pathLst>
                <a:path h="159174" w="1012959">
                  <a:moveTo>
                    <a:pt x="0" y="0"/>
                  </a:moveTo>
                  <a:lnTo>
                    <a:pt x="1012959" y="0"/>
                  </a:lnTo>
                  <a:lnTo>
                    <a:pt x="1012959" y="159174"/>
                  </a:lnTo>
                  <a:lnTo>
                    <a:pt x="0" y="159174"/>
                  </a:lnTo>
                  <a:close/>
                </a:path>
              </a:pathLst>
            </a:custGeom>
            <a:solidFill>
              <a:srgbClr val="DBC0B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12958" cy="187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50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53142" y="2871302"/>
            <a:ext cx="2032490" cy="6503967"/>
          </a:xfrm>
          <a:custGeom>
            <a:avLst/>
            <a:gdLst/>
            <a:ahLst/>
            <a:cxnLst/>
            <a:rect r="r" b="b" t="t" l="l"/>
            <a:pathLst>
              <a:path h="6503967" w="2032490">
                <a:moveTo>
                  <a:pt x="0" y="0"/>
                </a:moveTo>
                <a:lnTo>
                  <a:pt x="2032490" y="0"/>
                </a:lnTo>
                <a:lnTo>
                  <a:pt x="2032490" y="6503967"/>
                </a:lnTo>
                <a:lnTo>
                  <a:pt x="0" y="6503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3033420" y="6015210"/>
            <a:ext cx="7056886" cy="2178813"/>
          </a:xfrm>
          <a:custGeom>
            <a:avLst/>
            <a:gdLst/>
            <a:ahLst/>
            <a:cxnLst/>
            <a:rect r="r" b="b" t="t" l="l"/>
            <a:pathLst>
              <a:path h="2178813" w="7056886">
                <a:moveTo>
                  <a:pt x="0" y="0"/>
                </a:moveTo>
                <a:lnTo>
                  <a:pt x="7056886" y="0"/>
                </a:lnTo>
                <a:lnTo>
                  <a:pt x="7056886" y="2178814"/>
                </a:lnTo>
                <a:lnTo>
                  <a:pt x="0" y="2178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59540" y="2218033"/>
            <a:ext cx="606352" cy="665063"/>
          </a:xfrm>
          <a:custGeom>
            <a:avLst/>
            <a:gdLst/>
            <a:ahLst/>
            <a:cxnLst/>
            <a:rect r="r" b="b" t="t" l="l"/>
            <a:pathLst>
              <a:path h="665063" w="606352">
                <a:moveTo>
                  <a:pt x="0" y="0"/>
                </a:moveTo>
                <a:lnTo>
                  <a:pt x="606352" y="0"/>
                </a:lnTo>
                <a:lnTo>
                  <a:pt x="606352" y="665063"/>
                </a:lnTo>
                <a:lnTo>
                  <a:pt x="0" y="665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786234" y="2936033"/>
            <a:ext cx="752446" cy="696487"/>
          </a:xfrm>
          <a:custGeom>
            <a:avLst/>
            <a:gdLst/>
            <a:ahLst/>
            <a:cxnLst/>
            <a:rect r="r" b="b" t="t" l="l"/>
            <a:pathLst>
              <a:path h="696487" w="752446">
                <a:moveTo>
                  <a:pt x="0" y="0"/>
                </a:moveTo>
                <a:lnTo>
                  <a:pt x="752446" y="0"/>
                </a:lnTo>
                <a:lnTo>
                  <a:pt x="752446" y="696487"/>
                </a:lnTo>
                <a:lnTo>
                  <a:pt x="0" y="6964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4456980" y="1651436"/>
            <a:ext cx="1774531" cy="45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269"/>
              </a:lnSpc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كيف تُبلِّغ؟</a:t>
            </a:r>
          </a:p>
          <a:p>
            <a:pPr algn="r" rtl="true" marL="0" indent="0" lvl="0">
              <a:lnSpc>
                <a:spcPts val="1269"/>
              </a:lnSpc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عبر منصة «كلنا أمن»</a:t>
            </a:r>
          </a:p>
          <a:p>
            <a:pPr algn="r" rtl="true" marL="0" indent="0" lvl="0">
              <a:lnSpc>
                <a:spcPts val="1269"/>
              </a:lnSpc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أو الاتصال بـ </a:t>
            </a:r>
            <a:r>
              <a:rPr lang="en-US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911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784999" y="3760476"/>
            <a:ext cx="756063" cy="621406"/>
          </a:xfrm>
          <a:custGeom>
            <a:avLst/>
            <a:gdLst/>
            <a:ahLst/>
            <a:cxnLst/>
            <a:rect r="r" b="b" t="t" l="l"/>
            <a:pathLst>
              <a:path h="621406" w="756063">
                <a:moveTo>
                  <a:pt x="0" y="0"/>
                </a:moveTo>
                <a:lnTo>
                  <a:pt x="756063" y="0"/>
                </a:lnTo>
                <a:lnTo>
                  <a:pt x="756063" y="621406"/>
                </a:lnTo>
                <a:lnTo>
                  <a:pt x="0" y="621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3873838" y="4543807"/>
            <a:ext cx="578083" cy="679537"/>
          </a:xfrm>
          <a:custGeom>
            <a:avLst/>
            <a:gdLst/>
            <a:ahLst/>
            <a:cxnLst/>
            <a:rect r="r" b="b" t="t" l="l"/>
            <a:pathLst>
              <a:path h="679537" w="578083">
                <a:moveTo>
                  <a:pt x="0" y="0"/>
                </a:moveTo>
                <a:lnTo>
                  <a:pt x="578083" y="0"/>
                </a:lnTo>
                <a:lnTo>
                  <a:pt x="578083" y="679538"/>
                </a:lnTo>
                <a:lnTo>
                  <a:pt x="0" y="679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473" r="0" b="-21606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804483" y="1444496"/>
            <a:ext cx="703757" cy="664441"/>
          </a:xfrm>
          <a:custGeom>
            <a:avLst/>
            <a:gdLst/>
            <a:ahLst/>
            <a:cxnLst/>
            <a:rect r="r" b="b" t="t" l="l"/>
            <a:pathLst>
              <a:path h="664441" w="703757">
                <a:moveTo>
                  <a:pt x="0" y="0"/>
                </a:moveTo>
                <a:lnTo>
                  <a:pt x="703757" y="0"/>
                </a:lnTo>
                <a:lnTo>
                  <a:pt x="703757" y="664441"/>
                </a:lnTo>
                <a:lnTo>
                  <a:pt x="0" y="6644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013499" y="6027347"/>
            <a:ext cx="413135" cy="476924"/>
          </a:xfrm>
          <a:custGeom>
            <a:avLst/>
            <a:gdLst/>
            <a:ahLst/>
            <a:cxnLst/>
            <a:rect r="r" b="b" t="t" l="l"/>
            <a:pathLst>
              <a:path h="476924" w="413135">
                <a:moveTo>
                  <a:pt x="0" y="0"/>
                </a:moveTo>
                <a:lnTo>
                  <a:pt x="413135" y="0"/>
                </a:lnTo>
                <a:lnTo>
                  <a:pt x="413135" y="476923"/>
                </a:lnTo>
                <a:lnTo>
                  <a:pt x="0" y="4769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12871" y="3187009"/>
            <a:ext cx="300301" cy="490288"/>
          </a:xfrm>
          <a:custGeom>
            <a:avLst/>
            <a:gdLst/>
            <a:ahLst/>
            <a:cxnLst/>
            <a:rect r="r" b="b" t="t" l="l"/>
            <a:pathLst>
              <a:path h="490288" w="300301">
                <a:moveTo>
                  <a:pt x="0" y="0"/>
                </a:moveTo>
                <a:lnTo>
                  <a:pt x="300301" y="0"/>
                </a:lnTo>
                <a:lnTo>
                  <a:pt x="300301" y="490288"/>
                </a:lnTo>
                <a:lnTo>
                  <a:pt x="0" y="4902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430718" y="2834541"/>
            <a:ext cx="236740" cy="3006218"/>
          </a:xfrm>
          <a:custGeom>
            <a:avLst/>
            <a:gdLst/>
            <a:ahLst/>
            <a:cxnLst/>
            <a:rect r="r" b="b" t="t" l="l"/>
            <a:pathLst>
              <a:path h="3006218" w="236740">
                <a:moveTo>
                  <a:pt x="0" y="0"/>
                </a:moveTo>
                <a:lnTo>
                  <a:pt x="236739" y="0"/>
                </a:lnTo>
                <a:lnTo>
                  <a:pt x="236739" y="3006218"/>
                </a:lnTo>
                <a:lnTo>
                  <a:pt x="0" y="30062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411821" y="2455007"/>
            <a:ext cx="300301" cy="5005020"/>
          </a:xfrm>
          <a:custGeom>
            <a:avLst/>
            <a:gdLst/>
            <a:ahLst/>
            <a:cxnLst/>
            <a:rect r="r" b="b" t="t" l="l"/>
            <a:pathLst>
              <a:path h="5005020" w="300301">
                <a:moveTo>
                  <a:pt x="0" y="0"/>
                </a:moveTo>
                <a:lnTo>
                  <a:pt x="300301" y="0"/>
                </a:lnTo>
                <a:lnTo>
                  <a:pt x="300301" y="5005021"/>
                </a:lnTo>
                <a:lnTo>
                  <a:pt x="0" y="50050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451224" y="4507158"/>
            <a:ext cx="221392" cy="2426212"/>
          </a:xfrm>
          <a:custGeom>
            <a:avLst/>
            <a:gdLst/>
            <a:ahLst/>
            <a:cxnLst/>
            <a:rect r="r" b="b" t="t" l="l"/>
            <a:pathLst>
              <a:path h="2426212" w="221392">
                <a:moveTo>
                  <a:pt x="0" y="0"/>
                </a:moveTo>
                <a:lnTo>
                  <a:pt x="221391" y="0"/>
                </a:lnTo>
                <a:lnTo>
                  <a:pt x="221391" y="2426212"/>
                </a:lnTo>
                <a:lnTo>
                  <a:pt x="0" y="2426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435638" y="6255921"/>
            <a:ext cx="2147615" cy="1326152"/>
          </a:xfrm>
          <a:custGeom>
            <a:avLst/>
            <a:gdLst/>
            <a:ahLst/>
            <a:cxnLst/>
            <a:rect r="r" b="b" t="t" l="l"/>
            <a:pathLst>
              <a:path h="1326152" w="2147615">
                <a:moveTo>
                  <a:pt x="0" y="0"/>
                </a:moveTo>
                <a:lnTo>
                  <a:pt x="2147615" y="0"/>
                </a:lnTo>
                <a:lnTo>
                  <a:pt x="2147615" y="1326152"/>
                </a:lnTo>
                <a:lnTo>
                  <a:pt x="0" y="13261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462161" y="901571"/>
            <a:ext cx="313407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2100"/>
              </a:lnSpc>
              <a:spcBef>
                <a:spcPct val="0"/>
              </a:spcBef>
            </a:pPr>
            <a:r>
              <a:rPr lang="ar-EG" b="true" sz="1500" spc="330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طرق الوقاية والإبلاغ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5762" y="2140404"/>
            <a:ext cx="2755761" cy="3550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402"/>
              </a:lnSpc>
            </a:pPr>
            <a:r>
              <a:rPr lang="ar-EG" b="true" sz="1716" spc="377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كيف تحمي نفسك؟</a:t>
            </a:r>
          </a:p>
          <a:p>
            <a:pPr algn="r" rtl="true" marL="0" indent="0" lvl="0">
              <a:lnSpc>
                <a:spcPts val="2402"/>
              </a:lnSpc>
            </a:pPr>
            <a:r>
              <a:rPr lang="ar-EG" b="true" sz="1716" spc="377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لا تشارك بياناتك الشخصية أو كلمات المرور مع أي شخص.</a:t>
            </a:r>
          </a:p>
          <a:p>
            <a:pPr algn="r" rtl="true" marL="0" indent="0" lvl="0">
              <a:lnSpc>
                <a:spcPts val="2402"/>
              </a:lnSpc>
            </a:pPr>
            <a:r>
              <a:rPr lang="ar-EG" b="true" sz="1716" spc="377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اضبط إعدادات الخصوصية على جميع حساباتك.</a:t>
            </a:r>
          </a:p>
          <a:p>
            <a:pPr algn="r" rtl="true" marL="0" indent="0" lvl="0">
              <a:lnSpc>
                <a:spcPts val="2402"/>
              </a:lnSpc>
            </a:pPr>
          </a:p>
          <a:p>
            <a:pPr algn="r" rtl="true" marL="0" indent="0" lvl="0">
              <a:lnSpc>
                <a:spcPts val="2402"/>
              </a:lnSpc>
            </a:pPr>
            <a:r>
              <a:rPr lang="ar-EG" b="true" sz="1716" spc="377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لا تقبل طلبات صداقة من أشخاص مجهولين.</a:t>
            </a:r>
          </a:p>
          <a:p>
            <a:pPr algn="r" rtl="true" marL="0" indent="0" lvl="0">
              <a:lnSpc>
                <a:spcPts val="2402"/>
              </a:lnSpc>
            </a:pPr>
            <a:r>
              <a:rPr lang="ar-EG" b="true" sz="1716" spc="377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احفظ الأدلة والمحادثات قبل الإبلاغ.</a:t>
            </a:r>
          </a:p>
          <a:p>
            <a:pPr algn="r" rtl="true" marL="0" indent="0" lvl="0">
              <a:lnSpc>
                <a:spcPts val="2402"/>
              </a:lnSpc>
            </a:pPr>
            <a:r>
              <a:rPr lang="ar-EG" b="true" sz="1716" spc="377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لا تستجب لمطالب المبتز ولا تدفع أي مبلغ.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58674" y="2489260"/>
            <a:ext cx="2401276" cy="15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361"/>
              </a:lnSpc>
              <a:spcBef>
                <a:spcPct val="0"/>
              </a:spcBef>
            </a:pPr>
            <a:r>
              <a:rPr lang="ar-EG" b="true" sz="972" spc="21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تعريف الابتزاز الإلكتروني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01000" y="3393954"/>
            <a:ext cx="1267672" cy="15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361"/>
              </a:lnSpc>
              <a:spcBef>
                <a:spcPct val="0"/>
              </a:spcBef>
            </a:pPr>
            <a:r>
              <a:rPr lang="ar-EG" b="true" sz="972" spc="21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ما هو الابتزاز الإلكتروني؟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10188" y="3925407"/>
            <a:ext cx="1749762" cy="67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361"/>
              </a:lnSpc>
              <a:spcBef>
                <a:spcPct val="0"/>
              </a:spcBef>
            </a:pPr>
            <a:r>
              <a:rPr lang="ar-EG" b="true" sz="972" spc="21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هو تهديد شخص بنشر معلومات أو صور أو مقاطع خاصة عبر الفضاء الإلكتروني بهدف انتزاع المال أو الخضوع.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5762" y="1438726"/>
            <a:ext cx="2780438" cy="39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280"/>
              </a:lnSpc>
              <a:spcBef>
                <a:spcPct val="0"/>
              </a:spcBef>
            </a:pPr>
            <a:r>
              <a:rPr lang="ar-EG" b="true" sz="2343" spc="2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والإبلاغ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66691" y="885956"/>
            <a:ext cx="2905925" cy="54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4577"/>
              </a:lnSpc>
            </a:pPr>
            <a:r>
              <a:rPr lang="ar-EG" b="true" sz="3269" spc="32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حملة توعوية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1654" y="1011894"/>
            <a:ext cx="2228655" cy="31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2580"/>
              </a:lnSpc>
              <a:spcBef>
                <a:spcPct val="0"/>
              </a:spcBef>
            </a:pPr>
            <a:r>
              <a:rPr lang="ar-EG" b="true" sz="1843" spc="258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الوقاية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56980" y="2344710"/>
            <a:ext cx="1774531" cy="30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269"/>
              </a:lnSpc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أبلغ فوراً ولا تتأخر</a:t>
            </a:r>
          </a:p>
          <a:p>
            <a:pPr algn="r" rtl="true" marL="0" indent="0" lvl="0">
              <a:lnSpc>
                <a:spcPts val="1269"/>
              </a:lnSpc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كل تأخير يزيد الضرر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56980" y="3176031"/>
            <a:ext cx="1774531" cy="30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269"/>
              </a:lnSpc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القوانين والعقوبات</a:t>
            </a:r>
          </a:p>
          <a:p>
            <a:pPr algn="r" rtl="true" marL="0" indent="0" lvl="0">
              <a:lnSpc>
                <a:spcPts val="1269"/>
              </a:lnSpc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في المملكة العربية السعودية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90671" y="6670398"/>
            <a:ext cx="2340841" cy="66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802"/>
              </a:lnSpc>
              <a:spcBef>
                <a:spcPct val="0"/>
              </a:spcBef>
            </a:pPr>
            <a:r>
              <a:rPr lang="ar-EG" sz="1287" spc="283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نظام مكافحة الجرائم المعلوماتية </a:t>
            </a:r>
            <a:r>
              <a:rPr lang="en-US" sz="1287" spc="283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</a:rPr>
              <a:t>1428</a:t>
            </a:r>
            <a:r>
              <a:rPr lang="ar-EG" sz="1287" spc="283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هـ يُجرّم الابتزاز الإلكتروني ويعاقب عليه بالسجن والغرامة المالية.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21757" y="3561973"/>
            <a:ext cx="1609754" cy="166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650"/>
              </a:lnSpc>
              <a:spcBef>
                <a:spcPct val="0"/>
              </a:spcBef>
            </a:pPr>
            <a:r>
              <a:rPr lang="ar-EG" sz="902" spc="198">
                <a:solidFill>
                  <a:srgbClr val="F0F0EF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المادة الثالثة: السجن حتى سنة وغرامة </a:t>
            </a:r>
            <a:r>
              <a:rPr lang="en-US" sz="902" spc="198">
                <a:solidFill>
                  <a:srgbClr val="F0F0E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500,000</a:t>
            </a:r>
            <a:r>
              <a:rPr lang="ar-EG" sz="902" spc="198">
                <a:solidFill>
                  <a:srgbClr val="F0F0EF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 ريال للتهديد والابتزاز عبر الفضاء الإلكتروني.</a:t>
            </a:r>
          </a:p>
          <a:p>
            <a:pPr algn="r" rtl="true" marL="0" indent="0" lvl="0">
              <a:lnSpc>
                <a:spcPts val="1650"/>
              </a:lnSpc>
              <a:spcBef>
                <a:spcPct val="0"/>
              </a:spcBef>
            </a:pPr>
            <a:r>
              <a:rPr lang="ar-EG" sz="902" spc="198">
                <a:solidFill>
                  <a:srgbClr val="F0F0EF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المادة السابعة: السجن حتى </a:t>
            </a:r>
            <a:r>
              <a:rPr lang="en-US" sz="902" spc="198">
                <a:solidFill>
                  <a:srgbClr val="F0F0E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3</a:t>
            </a:r>
            <a:r>
              <a:rPr lang="ar-EG" sz="902" spc="198">
                <a:solidFill>
                  <a:srgbClr val="F0F0EF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 سنوات وغرامة مليون ريال للجرائم الأشد خطورة.</a:t>
            </a:r>
          </a:p>
          <a:p>
            <a:pPr algn="r" rtl="true" marL="0" indent="0" lvl="0">
              <a:lnSpc>
                <a:spcPts val="1650"/>
              </a:lnSpc>
              <a:spcBef>
                <a:spcPct val="0"/>
              </a:spcBef>
            </a:pPr>
            <a:r>
              <a:rPr lang="ar-EG" sz="902" spc="198">
                <a:solidFill>
                  <a:srgbClr val="F0F0EF"/>
                </a:solidFill>
                <a:latin typeface="IBM Plex Sans Arabic"/>
                <a:ea typeface="IBM Plex Sans Arabic"/>
                <a:cs typeface="IBM Plex Sans Arabic"/>
                <a:sym typeface="IBM Plex Sans Arabic"/>
                <a:rtl val="true"/>
              </a:rPr>
              <a:t>التشهير والنشر غير المشروع يُعدّ جريمة مستقلة يُعاقب عليها القانون.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56980" y="4696784"/>
            <a:ext cx="1774531" cy="14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269"/>
              </a:lnSpc>
              <a:spcBef>
                <a:spcPct val="0"/>
              </a:spcBef>
            </a:pPr>
            <a:r>
              <a:rPr lang="ar-EG" sz="906" spc="199">
                <a:solidFill>
                  <a:srgbClr val="F0F0EF"/>
                </a:solidFill>
                <a:latin typeface="IBM Plex Sans Arabic Light"/>
                <a:ea typeface="IBM Plex Sans Arabic Light"/>
                <a:cs typeface="IBM Plex Sans Arabic Light"/>
                <a:sym typeface="IBM Plex Sans Arabic Light"/>
                <a:rtl val="true"/>
              </a:rPr>
              <a:t>لا تصمت — القانون يحميك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610188" y="6561502"/>
            <a:ext cx="1592182" cy="70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1173"/>
              </a:lnSpc>
              <a:spcBef>
                <a:spcPct val="0"/>
              </a:spcBef>
            </a:pPr>
            <a:r>
              <a:rPr lang="ar-EG" b="true" sz="994" spc="218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الآثار النفسية والاجتماعية</a:t>
            </a:r>
          </a:p>
          <a:p>
            <a:pPr algn="r" rtl="true" marL="0" indent="0" lvl="0">
              <a:lnSpc>
                <a:spcPts val="1173"/>
              </a:lnSpc>
              <a:spcBef>
                <a:spcPct val="0"/>
              </a:spcBef>
            </a:pPr>
            <a:r>
              <a:rPr lang="ar-EG" b="true" sz="994" spc="218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القلق والاكتئاب الحاد</a:t>
            </a:r>
          </a:p>
          <a:p>
            <a:pPr algn="r" rtl="true" marL="0" indent="0" lvl="0">
              <a:lnSpc>
                <a:spcPts val="1173"/>
              </a:lnSpc>
              <a:spcBef>
                <a:spcPct val="0"/>
              </a:spcBef>
            </a:pPr>
            <a:r>
              <a:rPr lang="ar-EG" b="true" sz="994" spc="218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العزلة الاجتماعية</a:t>
            </a:r>
          </a:p>
          <a:p>
            <a:pPr algn="r" rtl="true" marL="0" indent="0" lvl="0">
              <a:lnSpc>
                <a:spcPts val="1173"/>
              </a:lnSpc>
              <a:spcBef>
                <a:spcPct val="0"/>
              </a:spcBef>
            </a:pPr>
            <a:r>
              <a:rPr lang="ar-EG" b="true" sz="994" spc="218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الخوف الدائم والضغط النفسي</a:t>
            </a:r>
          </a:p>
          <a:p>
            <a:pPr algn="r" rtl="true" marL="0" indent="0" lvl="0">
              <a:lnSpc>
                <a:spcPts val="1173"/>
              </a:lnSpc>
              <a:spcBef>
                <a:spcPct val="0"/>
              </a:spcBef>
            </a:pPr>
            <a:r>
              <a:rPr lang="ar-EG" b="true" sz="994" spc="218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تدمير السمعة والعلاقات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10188" y="4851751"/>
            <a:ext cx="1749762" cy="67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361"/>
              </a:lnSpc>
              <a:spcBef>
                <a:spcPct val="0"/>
              </a:spcBef>
            </a:pPr>
            <a:r>
              <a:rPr lang="ar-EG" b="true" sz="972" spc="21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الآثار القانونية</a:t>
            </a:r>
          </a:p>
          <a:p>
            <a:pPr algn="just" rtl="true" marL="0" indent="0" lvl="0">
              <a:lnSpc>
                <a:spcPts val="1361"/>
              </a:lnSpc>
              <a:spcBef>
                <a:spcPct val="0"/>
              </a:spcBef>
            </a:pPr>
            <a:r>
              <a:rPr lang="ar-EG" b="true" sz="972" spc="21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الملاحقة القضائية للضحية إن تصرفت خطأً</a:t>
            </a:r>
          </a:p>
          <a:p>
            <a:pPr algn="just" rtl="true" marL="0" indent="0" lvl="0">
              <a:lnSpc>
                <a:spcPts val="1361"/>
              </a:lnSpc>
              <a:spcBef>
                <a:spcPct val="0"/>
              </a:spcBef>
            </a:pPr>
            <a:r>
              <a:rPr lang="ar-EG" b="true" sz="972" spc="21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ضياع الأدلة عند التأخر في الإبلاغ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79946" y="5637366"/>
            <a:ext cx="1680004" cy="15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 marL="0" indent="0" lvl="0">
              <a:lnSpc>
                <a:spcPts val="1361"/>
              </a:lnSpc>
              <a:spcBef>
                <a:spcPct val="0"/>
              </a:spcBef>
            </a:pPr>
            <a:r>
              <a:rPr lang="ar-EG" b="true" sz="972" spc="213">
                <a:solidFill>
                  <a:srgbClr val="312E3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احذر الابتزاز الإلكتروني!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DAHXqrrlAbo</dc:identifier>
  <dcterms:modified xsi:type="dcterms:W3CDTF">2011-08-01T06:04:30Z</dcterms:modified>
  <cp:revision>1</cp:revision>
  <dc:title>حملة توعوية: احذر الابتزاز الإلكتروني! - كتيب Canva القابل للتحرير في A3 أفقي</dc:title>
</cp:coreProperties>
</file>